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a59cf69cf4f78" /><Relationship Type="http://schemas.openxmlformats.org/officeDocument/2006/relationships/extended-properties" Target="/docProps/app.xml" Id="Rcaf4ff6224914ffb" /><Relationship Type="http://schemas.openxmlformats.org/officeDocument/2006/relationships/officeDocument" Target="/ppt/presentation.xml" Id="R36356904e86b46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01b26639564a75"/>
  </p:sldMasterIdLst>
  <p:notesMasterIdLst>
    <p:notesMasterId xmlns:r="http://schemas.openxmlformats.org/officeDocument/2006/relationships" r:id="R58ca4bad1f2d4bbd"/>
  </p:notesMasterIdLst>
  <p:sldIdLst>
    <p:sldId xmlns:r="http://schemas.openxmlformats.org/officeDocument/2006/relationships" id="256" r:id="Rb73355c2add64378"/>
    <p:sldId xmlns:r="http://schemas.openxmlformats.org/officeDocument/2006/relationships" id="257" r:id="R23bc5038721e4bb5"/>
    <p:sldId xmlns:r="http://schemas.openxmlformats.org/officeDocument/2006/relationships" id="258" r:id="R128a2718250046cd"/>
    <p:sldId xmlns:r="http://schemas.openxmlformats.org/officeDocument/2006/relationships" id="259" r:id="R86e78584c658435f"/>
    <p:sldId xmlns:r="http://schemas.openxmlformats.org/officeDocument/2006/relationships" id="260" r:id="R3b991424cf784c07"/>
    <p:sldId xmlns:r="http://schemas.openxmlformats.org/officeDocument/2006/relationships" id="261" r:id="R212c9b8e66ff46f5"/>
    <p:sldId xmlns:r="http://schemas.openxmlformats.org/officeDocument/2006/relationships" id="262" r:id="R86d72a9d0d8f4fdf"/>
    <p:sldId xmlns:r="http://schemas.openxmlformats.org/officeDocument/2006/relationships" id="263" r:id="R93bfde00fc8742dd"/>
    <p:sldId xmlns:r="http://schemas.openxmlformats.org/officeDocument/2006/relationships" id="264" r:id="R5b43a3bf3cf94f82"/>
    <p:sldId xmlns:r="http://schemas.openxmlformats.org/officeDocument/2006/relationships" id="265" r:id="R3dfa40187d364306"/>
    <p:sldId xmlns:r="http://schemas.openxmlformats.org/officeDocument/2006/relationships" id="266" r:id="R609aa97757394a5e"/>
    <p:sldId xmlns:r="http://schemas.openxmlformats.org/officeDocument/2006/relationships" id="267" r:id="Rb1ee52a320c5457b"/>
    <p:sldId xmlns:r="http://schemas.openxmlformats.org/officeDocument/2006/relationships" id="268" r:id="R3570b8f412d74685"/>
    <p:sldId xmlns:r="http://schemas.openxmlformats.org/officeDocument/2006/relationships" id="269" r:id="R41a343e65db04d2a"/>
    <p:sldId xmlns:r="http://schemas.openxmlformats.org/officeDocument/2006/relationships" id="270" r:id="R2ca69e71fe4841e2"/>
    <p:sldId xmlns:r="http://schemas.openxmlformats.org/officeDocument/2006/relationships" id="271" r:id="Rbb0eab429a1b434d"/>
    <p:sldId xmlns:r="http://schemas.openxmlformats.org/officeDocument/2006/relationships" id="272" r:id="R60168da134bf4430"/>
    <p:sldId xmlns:r="http://schemas.openxmlformats.org/officeDocument/2006/relationships" id="273" r:id="Rf7530e6f44ff4b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58147ac9c4ad1" /><Relationship Type="http://schemas.openxmlformats.org/officeDocument/2006/relationships/slideMaster" Target="/ppt/slideMasters/slideMaster1.xml" Id="R9801b26639564a75" /><Relationship Type="http://schemas.openxmlformats.org/officeDocument/2006/relationships/notesMaster" Target="/ppt/notesMasters/notesMaster1.xml" Id="R58ca4bad1f2d4bbd" /><Relationship Type="http://schemas.openxmlformats.org/officeDocument/2006/relationships/presProps" Target="/ppt/presProps.xml" Id="R0319000636b542e6" /><Relationship Type="http://schemas.openxmlformats.org/officeDocument/2006/relationships/tableStyles" Target="/ppt/tableStyles.xml" Id="R708720e4ab584221" /><Relationship Type="http://schemas.openxmlformats.org/officeDocument/2006/relationships/slide" Target="/ppt/slides/slide1.xml" Id="Rb73355c2add64378" /><Relationship Type="http://schemas.openxmlformats.org/officeDocument/2006/relationships/slide" Target="/ppt/slides/slide2.xml" Id="R23bc5038721e4bb5" /><Relationship Type="http://schemas.openxmlformats.org/officeDocument/2006/relationships/slide" Target="/ppt/slides/slide3.xml" Id="R128a2718250046cd" /><Relationship Type="http://schemas.openxmlformats.org/officeDocument/2006/relationships/slide" Target="/ppt/slides/slide4.xml" Id="R86e78584c658435f" /><Relationship Type="http://schemas.openxmlformats.org/officeDocument/2006/relationships/slide" Target="/ppt/slides/slide5.xml" Id="R3b991424cf784c07" /><Relationship Type="http://schemas.openxmlformats.org/officeDocument/2006/relationships/slide" Target="/ppt/slides/slide6.xml" Id="R212c9b8e66ff46f5" /><Relationship Type="http://schemas.openxmlformats.org/officeDocument/2006/relationships/slide" Target="/ppt/slides/slide7.xml" Id="R86d72a9d0d8f4fdf" /><Relationship Type="http://schemas.openxmlformats.org/officeDocument/2006/relationships/slide" Target="/ppt/slides/slide8.xml" Id="R93bfde00fc8742dd" /><Relationship Type="http://schemas.openxmlformats.org/officeDocument/2006/relationships/slide" Target="/ppt/slides/slide9.xml" Id="R5b43a3bf3cf94f82" /><Relationship Type="http://schemas.openxmlformats.org/officeDocument/2006/relationships/slide" Target="/ppt/slides/slide10.xml" Id="R3dfa40187d364306" /><Relationship Type="http://schemas.openxmlformats.org/officeDocument/2006/relationships/slide" Target="/ppt/slides/slide11.xml" Id="R609aa97757394a5e" /><Relationship Type="http://schemas.openxmlformats.org/officeDocument/2006/relationships/slide" Target="/ppt/slides/slide12.xml" Id="Rb1ee52a320c5457b" /><Relationship Type="http://schemas.openxmlformats.org/officeDocument/2006/relationships/slide" Target="/ppt/slides/slide13.xml" Id="R3570b8f412d74685" /><Relationship Type="http://schemas.openxmlformats.org/officeDocument/2006/relationships/slide" Target="/ppt/slides/slide14.xml" Id="R41a343e65db04d2a" /><Relationship Type="http://schemas.openxmlformats.org/officeDocument/2006/relationships/slide" Target="/ppt/slides/slide15.xml" Id="R2ca69e71fe4841e2" /><Relationship Type="http://schemas.openxmlformats.org/officeDocument/2006/relationships/slide" Target="/ppt/slides/slide16.xml" Id="Rbb0eab429a1b434d" /><Relationship Type="http://schemas.openxmlformats.org/officeDocument/2006/relationships/slide" Target="/ppt/slides/slide17.xml" Id="R60168da134bf4430" /><Relationship Type="http://schemas.openxmlformats.org/officeDocument/2006/relationships/slide" Target="/ppt/slides/slide18.xml" Id="Rf7530e6f44ff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6d7cbf3daf46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fbac9b85b4ef7" /><Relationship Type="http://schemas.openxmlformats.org/officeDocument/2006/relationships/notesMaster" Target="/ppt/notesMasters/notesMaster1.xml" Id="R2525435b1d54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76dffd9434adb" /><Relationship Type="http://schemas.openxmlformats.org/officeDocument/2006/relationships/notesMaster" Target="/ppt/notesMasters/notesMaster1.xml" Id="Rb5854310ca5f4a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3f2a256374285" /><Relationship Type="http://schemas.openxmlformats.org/officeDocument/2006/relationships/notesMaster" Target="/ppt/notesMasters/notesMaster1.xml" Id="R472b07c57ec4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1f64c5b384e3f" /><Relationship Type="http://schemas.openxmlformats.org/officeDocument/2006/relationships/notesMaster" Target="/ppt/notesMasters/notesMaster1.xml" Id="Rd47821ce3491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eb1e4a611b4166" /><Relationship Type="http://schemas.openxmlformats.org/officeDocument/2006/relationships/notesMaster" Target="/ppt/notesMasters/notesMaster1.xml" Id="Rb678635b68a84b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bb50b2636d4ce9" /><Relationship Type="http://schemas.openxmlformats.org/officeDocument/2006/relationships/notesMaster" Target="/ppt/notesMasters/notesMaster1.xml" Id="R99f94b71a1b845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a277e6fe714164" /><Relationship Type="http://schemas.openxmlformats.org/officeDocument/2006/relationships/notesMaster" Target="/ppt/notesMasters/notesMaster1.xml" Id="R7b89109fcf47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c877544f194bd1" /><Relationship Type="http://schemas.openxmlformats.org/officeDocument/2006/relationships/notesMaster" Target="/ppt/notesMasters/notesMaster1.xml" Id="R83167ba8e73e4b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5e003ab7354a39" /><Relationship Type="http://schemas.openxmlformats.org/officeDocument/2006/relationships/notesMaster" Target="/ppt/notesMasters/notesMaster1.xml" Id="R6f8a49cdd533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328fb8fcea4622" /><Relationship Type="http://schemas.openxmlformats.org/officeDocument/2006/relationships/notesMaster" Target="/ppt/notesMasters/notesMaster1.xml" Id="Rcf5fd24636d343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9eac01c9c54635" /><Relationship Type="http://schemas.openxmlformats.org/officeDocument/2006/relationships/notesMaster" Target="/ppt/notesMasters/notesMaster1.xml" Id="Rf6fb4a3796fb40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15742967d34e5c" /><Relationship Type="http://schemas.openxmlformats.org/officeDocument/2006/relationships/notesMaster" Target="/ppt/notesMasters/notesMaster1.xml" Id="Rf2bc1132f3984c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8352c691894953" /><Relationship Type="http://schemas.openxmlformats.org/officeDocument/2006/relationships/notesMaster" Target="/ppt/notesMasters/notesMaster1.xml" Id="R3de47b7394d644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5ad0a1ab4141a1" /><Relationship Type="http://schemas.openxmlformats.org/officeDocument/2006/relationships/notesMaster" Target="/ppt/notesMasters/notesMaster1.xml" Id="R2e171ba4dd7b47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0f6725c3f04064" /><Relationship Type="http://schemas.openxmlformats.org/officeDocument/2006/relationships/notesMaster" Target="/ppt/notesMasters/notesMaster1.xml" Id="R4068b0d4613343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3921ec21d44414" /><Relationship Type="http://schemas.openxmlformats.org/officeDocument/2006/relationships/notesMaster" Target="/ppt/notesMasters/notesMaster1.xml" Id="R47e19bf2911241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5db2712cf64d74" /><Relationship Type="http://schemas.openxmlformats.org/officeDocument/2006/relationships/notesMaster" Target="/ppt/notesMasters/notesMaster1.xml" Id="R0930ccdabfe14b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fe826c2ecc4772" /><Relationship Type="http://schemas.openxmlformats.org/officeDocument/2006/relationships/notesMaster" Target="/ppt/notesMasters/notesMaster1.xml" Id="R742e80d5b0e44d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7ddf5c0aa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401d551be44f01" /><Relationship Type="http://schemas.openxmlformats.org/officeDocument/2006/relationships/slideLayout" Target="/ppt/slideLayouts/slideLayout1.xml" Id="Rd6f44830504b4b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f44830504b4b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d1cd4f03f4855" /><Relationship Type="http://schemas.openxmlformats.org/officeDocument/2006/relationships/notesSlide" Target="/ppt/notesSlides/notesSlide1.xml" Id="R0c7303caeda94f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35ca2e454460" /><Relationship Type="http://schemas.openxmlformats.org/officeDocument/2006/relationships/notesSlide" Target="/ppt/notesSlides/notesSlide2.xml" Id="Rc8fa52bb129548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74abc5a934e7c" /><Relationship Type="http://schemas.openxmlformats.org/officeDocument/2006/relationships/notesSlide" Target="/ppt/notesSlides/notesSlide3.xml" Id="R27d288362e8f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a281e46c84c30" /><Relationship Type="http://schemas.openxmlformats.org/officeDocument/2006/relationships/notesSlide" Target="/ppt/notesSlides/notesSlide4.xml" Id="R95156a5c394e4f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d70a893bb4eb2" /><Relationship Type="http://schemas.openxmlformats.org/officeDocument/2006/relationships/notesSlide" Target="/ppt/notesSlides/notesSlide5.xml" Id="R4bb3c4573da645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53c6141494d46" /><Relationship Type="http://schemas.openxmlformats.org/officeDocument/2006/relationships/notesSlide" Target="/ppt/notesSlides/notesSlide6.xml" Id="R9c1faab2a5dd4c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5a93fc6ff4793" /><Relationship Type="http://schemas.openxmlformats.org/officeDocument/2006/relationships/image" Target="/ppt/media/image.png" Id="Rc1e88f8238d04382" /><Relationship Type="http://schemas.openxmlformats.org/officeDocument/2006/relationships/notesSlide" Target="/ppt/notesSlides/notesSlide7.xml" Id="R9aa029a48ee945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747022fd1468c" /><Relationship Type="http://schemas.openxmlformats.org/officeDocument/2006/relationships/notesSlide" Target="/ppt/notesSlides/notesSlide8.xml" Id="Rbacb1b4f24ad4c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220077dc445a7" /><Relationship Type="http://schemas.openxmlformats.org/officeDocument/2006/relationships/notesSlide" Target="/ppt/notesSlides/notesSlide9.xml" Id="R37eb1ed9b61443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d7eb353244f3a" /><Relationship Type="http://schemas.openxmlformats.org/officeDocument/2006/relationships/notesSlide" Target="/ppt/notesSlides/notesSlide10.xml" Id="Ra28df91673824d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77c7844b6463c" /><Relationship Type="http://schemas.openxmlformats.org/officeDocument/2006/relationships/notesSlide" Target="/ppt/notesSlides/notesSlide11.xml" Id="R2499a30a33b240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293a33c184812" /><Relationship Type="http://schemas.openxmlformats.org/officeDocument/2006/relationships/notesSlide" Target="/ppt/notesSlides/notesSlide12.xml" Id="R49b294c6ef8f42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cb0c3859947fd" /><Relationship Type="http://schemas.openxmlformats.org/officeDocument/2006/relationships/notesSlide" Target="/ppt/notesSlides/notesSlide13.xml" Id="Rb5d64df789554b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704ab4cf148c5" /><Relationship Type="http://schemas.openxmlformats.org/officeDocument/2006/relationships/notesSlide" Target="/ppt/notesSlides/notesSlide14.xml" Id="R545f2fe1911f45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463ff260145c3" /><Relationship Type="http://schemas.openxmlformats.org/officeDocument/2006/relationships/notesSlide" Target="/ppt/notesSlides/notesSlide15.xml" Id="R97d4de6ff69748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ba7b96a474656" /><Relationship Type="http://schemas.openxmlformats.org/officeDocument/2006/relationships/notesSlide" Target="/ppt/notesSlides/notesSlide16.xml" Id="R9781ebebe2ec43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d18f0141f4a12" /><Relationship Type="http://schemas.openxmlformats.org/officeDocument/2006/relationships/notesSlide" Target="/ppt/notesSlides/notesSlide17.xml" Id="R3621a51953df48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9a5657c8640a5" /><Relationship Type="http://schemas.openxmlformats.org/officeDocument/2006/relationships/notesSlide" Target="/ppt/notesSlides/notesSlide18.xml" Id="R1176de8f3aaa4c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6B84-79EC-4734-86E3-A48036DD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11C51-9FF7-42D8-A139-04A852F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PROJECT TRANSFORMATION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0D498-3FD6-40E3-8129-56649BBC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YaCheck × MaCheck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86695-4B8E-4B2C-98AB-2F1BA55A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จากต้นแบบ สู่ระบบที่ใช้งานจริง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C60B1-243B-4739-92C5-30C9E944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19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F6B"/>
                </a:solidFill>
              </a:defRPr>
            </a:pPr>
            <a:r>
              <a:rPr sz="1875" b="0">
                <a:solidFill>
                  <a:srgbClr val="6F6F6B"/>
                </a:solidFill>
              </a:rPr>
              <a:t>สรุปสิ่งที่ปรับปรุง ระบบกลาง ความปลอดภัย ผลทดสอบ</a:t>
            </a:r>
          </a:p>
          <a:p xmlns:a="http://schemas.openxmlformats.org/drawingml/2006/main">
            <a:pPr algn="l">
              <a:defRPr sz="1875" b="0">
                <a:solidFill>
                  <a:srgbClr val="6F6F6B"/>
                </a:solidFill>
              </a:defRPr>
            </a:pPr>
            <a:r>
              <a:rPr sz="1875" b="0">
                <a:solidFill>
                  <a:srgbClr val="6F6F6B"/>
                </a:solidFill>
              </a:rPr>
              <a:t>และงานที่ต้องปิดก่อนเปิดให้ผู้ใช้ทั่วไป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2BDB-33EC-4650-AFD1-F296C169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8F395-6765-49A2-ACC9-B735C5B3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18 กรกฎาคม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CA11A-07D2-4344-8B7F-CDC06F69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484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F6B"/>
                </a:solidFill>
              </a:defRPr>
            </a:pPr>
            <a:r>
              <a:rPr sz="975" b="0">
                <a:solidFill>
                  <a:srgbClr val="6F6F6B"/>
                </a:solidFill>
              </a:rPr>
              <a:t>MINIMAL / CLEAR / PRODUCTION-MINDED</a:t>
            </a:r>
          </a:p>
        </p:txBody>
      </p:sp>
    </p:spTree>
    <p:extLst>
      <p:ext uri="{BB962C8B-B14F-4D97-AF65-F5344CB8AC3E}">
        <p14:creationId xmlns:p14="http://schemas.microsoft.com/office/powerpoint/2010/main" val="445062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4CCEE-5836-4E0D-92B3-B269A65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สถานะโดยสรุป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AD9B2-D414-415D-9606-527184CB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วันนี้ระบบหลักทำงานจริงแล้ว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700C7-145B-49D0-ABAF-CB40606A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AFAA"/>
                </a:solidFill>
              </a:defRPr>
            </a:pPr>
            <a:r>
              <a:rPr sz="1125" b="1">
                <a:solidFill>
                  <a:srgbClr val="AFAFA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52226-24D6-4F45-AE96-C089954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AE7A3-CFFF-4527-8F63-9D5D54D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แอป native</a:t>
            </a:r>
          </a:p>
          <a:p xmlns:a="http://schemas.openxmlformats.org/drawingml/2006/main">
            <a:pPr algn="l"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YaCheck และ MaCheck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65175-E6AE-47C4-8CB9-EDD89A7D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E7EEE-DCD7-4F72-880B-C804FDED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ฐานข้อมูลกลาง</a:t>
            </a:r>
          </a:p>
          <a:p xmlns:a="http://schemas.openxmlformats.org/drawingml/2006/main">
            <a:pPr algn="l"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Supabase โครงการเดียว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B58AA-8FE5-4C65-8A02-9B72ABAC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55825-A688-49D8-952E-6C0F9F93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813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บริการบัญชี</a:t>
            </a:r>
          </a:p>
          <a:p xmlns:a="http://schemas.openxmlformats.org/drawingml/2006/main">
            <a:pPr algn="l"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สมัคร / เข้า / กู้คืน / ลบ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5995E-8661-439D-AF1A-366C0C3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912D8-9048-4C15-A9FB-DFD69B92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ข้อเท็จจริงสำคัญ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BCFBE-AFAF-4FF5-960B-AC65FBBE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โครงสร้างเทคนิคพร้อมสำหรับการทดสอบแบบควบคุม แต่ยังไม่ควรประกาศว่าเป็นบริการทางการแพทย์พร้อมใช้สาธารณะ จนกว่าจะผ่านการรับรองข้อมูล กฎหมาย และการปฏิบัติการ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57D65-6715-4437-883C-0B09DE68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สถานะ ณ 18 ก.ค. 2026</a:t>
            </a:r>
          </a:p>
        </p:txBody>
      </p:sp>
    </p:spTree>
    <p:extLst>
      <p:ext uri="{BB962C8B-B14F-4D97-AF65-F5344CB8AC3E}">
        <p14:creationId xmlns:p14="http://schemas.microsoft.com/office/powerpoint/2010/main" val="1116346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B367A-031E-454A-AABF-81E1325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ภาพรวมการเปลี่ยนแปลง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EAF29-059D-4B16-81F3-96291262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สิ่งที่เปลี่ยน ไม่ใช่แค่หน้าตาแอป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0AAC5-F9F5-4280-A13D-F72C8184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DD13A-A26B-40DD-8F4A-2FBBDFC5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B6423-4A3E-4BEE-B2B7-79BBB59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56388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25252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F84C1-677E-49D9-8321-6A6A5637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ก่อนปรับ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B342C-AC3F-42F6-9AEE-54C31D74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ต้นแบบ / เดโม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CD9BD-ABF7-4FA9-AB2D-C97173B2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92933-4EBA-4C9F-9FD7-5A774A87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YaCheck ยังเป็นเว็บต้นแบบ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01118-AE13-4526-BBCB-06744AF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D5B11-DCC5-44C9-B8DD-2DA44BF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MaCheck มีโหมดจำลองและ LAN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8E7A7-791F-4C88-AE54-BD69D2D7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91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88F87-AAA7-4D1C-9ABA-D68CE36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ข้อมูลแยกกันและเชื่อถือข้ามเครื่องไม่ได้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E005E-E290-43D4-8AF1-020D4233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หลังปรับ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CF67A-29D9-414C-8E77-A66805B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481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ระบบจริงระดับ technical foundation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E259D-29D1-4A81-ACF4-BBE7A3D9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95637-05A1-4AFC-9D43-8A9EFC2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Expo / React Native สำหรับ iOS และ Android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5FBF1-068B-4417-B10B-4516E2FF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CA640-F2E3-4885-A0D4-4A472419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ฐานข้อมูลกลางพร้อม auth, sync และ RLS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CBD58-5A30-405D-95C8-1DB8F176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074DE-60BD-4A7B-96C6-28400C9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ทำงานแบบ local-first พร้อม fallback เมื่อออฟไลน์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F74BA-1369-48A2-ADEB-CF51404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616363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7340F-22CF-4B6E-94E4-1CF28DE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สถาปัตยกรรมใหม่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9FA81-6598-4E8A-BC77-0CEEBC1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สองแอปใช้แหล่งข้อมูลกลางเดียวกัน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CD55D-871B-4E3F-A155-52E60B9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51CDE-6AA4-4DDD-9420-ADDAA6B5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4AE26-CAEE-4E24-889B-88014FF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1947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C7970-ACC6-4B3F-9B34-395B90EF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527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25750-66CC-4ABD-B117-E7CDC9B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52650"/>
            <a:ext cx="38862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6AEB5-BDB5-45E1-80A2-F335CFBD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5527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79E57-F858-4CBA-9BE3-CE92E2F6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YaCheck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11E94-3FE6-4FB0-B4C1-C870D5C8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กล้อง / แจ้งเตือน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ตู้ยา / บันทึกกินยา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5F6EB-2733-4D2B-A068-6B7EBA8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DBDB8"/>
                </a:solidFill>
              </a:defRPr>
            </a:pPr>
            <a:r>
              <a:rPr sz="1275" b="1">
                <a:solidFill>
                  <a:srgbClr val="BDBDB8"/>
                </a:solidFill>
              </a:rPr>
              <a:t>SUPABASE CENTRAL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D8FC4-CB4E-47BD-99B4-298B6F84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บัญชี + ข้อมูลผู้ใช้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ฐานยา + กฎความปลอดภัย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DCA10-C60A-49A8-8B9B-C38AF371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FCFCA"/>
                </a:solidFill>
              </a:defRPr>
            </a:pPr>
            <a:r>
              <a:rPr sz="1350" b="0">
                <a:solidFill>
                  <a:srgbClr val="CFCFCA"/>
                </a:solidFill>
              </a:rPr>
              <a:t>RLS คุมสิทธิ์ทุกแถว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3514F-307D-4826-B366-B74BA61B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MaCheck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BF1FB-D929-4ACF-8924-B4B0E334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กล้อง / ตรวจสอบยา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ข้อมูลผู้ดูแล / การติดตาม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22843-92C4-47BC-B53A-B48A0CB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24450"/>
            <a:ext cx="891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แต่ละเครื่องเก็บ session และ cache ไว้ใน SecureStore  |  เมื่อออนไลน์จึงซิงก์กับฐานกลาง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F55B1-BD39-475C-8FE5-9E57528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715242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40ADE-3B3B-454D-9D14-7FE2B4DC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YACHECK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23E0-C829-42A3-93CF-F9CBB6CB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YaCheck ถูกยกระดับจากเว็บเป็น native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A78A3-8B62-4560-A22D-06A58942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A1BDB-1B69-46FF-96F7-F7D8280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6F6B"/>
                </a:solidFill>
              </a:defRPr>
            </a:pPr>
            <a:r>
              <a:rPr sz="1800" b="0">
                <a:solidFill>
                  <a:srgbClr val="6F6F6B"/>
                </a:solidFill>
              </a:rPr>
              <a:t>ไม่ใช่การห่อเว็บไว้ในกรอบ แต่เปลี่ยนเป็นโครงสร้าง Expo / React Native ที่เข้าถึงความสามารถของโทรศัพท์จริง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C81AF-E997-4A22-9637-1A0E4BB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2B4C-1D7D-49C4-ACED-1386E454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กล้องจริง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293D3-E9C8-48A0-805D-430051D5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2495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สแกน barcode / QR และค้นหายาด้วยชื่อ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BC534-F363-4045-BD68-7AC7F554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DA555-FBBC-4F54-9A14-1E9D35D3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แจ้งเตือนในเครื่อง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423F2-DDBC-47E4-A48D-145DA367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4330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ตั้งเวลาตามตารางการใช้ยาโดยไม่พึ่งหน้าเว็บ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F6B8D-774C-4E05-86C0-68C5703C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E3C0B-8554-4E1A-9AA6-9FAA202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ข้อมูลคงอยู่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22B45-1621-445B-AC41-31F23D06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ตู้ยา ตาราง และประวัติไม่หายเมื่อปิดแอป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D6511-A0EC-469E-86E7-E2270F2C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C742E-C662-45F5-9DAA-F701B94E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B"/>
                </a:solidFill>
              </a:defRPr>
            </a:pPr>
            <a:r>
              <a:rPr sz="1275" b="0">
                <a:solidFill>
                  <a:srgbClr val="6F6F6B"/>
                </a:solidFill>
              </a:rPr>
              <a:t>รหัสแอป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3BFB0-1F77-4A3C-9821-8A9426BD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38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com.yacheck.app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7EC1D-2614-4355-A594-0376B4AA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B"/>
                </a:solidFill>
              </a:defRPr>
            </a:pPr>
            <a:r>
              <a:rPr sz="1275" b="0">
                <a:solidFill>
                  <a:srgbClr val="6F6F6B"/>
                </a:solidFill>
              </a:rPr>
              <a:t>deep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31C87-BCEA-4F30-94F8-FC87C4A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yacheck://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7669C-CD70-43C4-91F6-9413148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706822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1D067-0C68-4182-93A6-E9FFAE1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ประสบการณ์ผู้ใช้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3EC96-C30C-4286-A310-EDFB5E89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ฟังก์ชันของ YaCheck เชื่อมเป็นวงจรการใช้ยา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EF793-7026-4C13-B22C-973DF3F7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DDE80-6DE1-40FA-A182-AD6C0970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3C705-0698-42D2-AF0B-938D67A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9684D-2CEF-4B72-90EE-E7C4CA3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6F6B"/>
                </a:solidFill>
              </a:defRPr>
            </a:pPr>
            <a:r>
              <a:rPr sz="1425" b="1">
                <a:solidFill>
                  <a:srgbClr val="6F6F6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8C5C6-0C91-4562-858F-0F18F9BE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เพิ่มยา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9D020-FDD4-4450-A69C-352F2285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B"/>
                </a:solidFill>
              </a:defRPr>
            </a:pPr>
            <a:r>
              <a:rPr sz="1350" b="0">
                <a:solidFill>
                  <a:srgbClr val="6F6F6B"/>
                </a:solidFill>
              </a:rPr>
              <a:t>สแกนหรือค้นชื่อยา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E2BF3-A09B-4B00-932F-9E62DD60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908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6329D-D8AF-4494-ADA9-6164BB9C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6AA8E-B290-4663-9AFD-0B72B83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6F6B"/>
                </a:solidFill>
              </a:defRPr>
            </a:pPr>
            <a:r>
              <a:rPr sz="1425" b="1">
                <a:solidFill>
                  <a:srgbClr val="6F6F6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75B15-3D36-465F-983A-67762D53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ตั้งตาราง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F2CA2-5F55-438F-BE3F-7CA7961F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B"/>
                </a:solidFill>
              </a:defRPr>
            </a:pPr>
            <a:r>
              <a:rPr sz="1350" b="0">
                <a:solidFill>
                  <a:srgbClr val="6F6F6B"/>
                </a:solidFill>
              </a:rPr>
              <a:t>เลือกเวลาและแจ้งเตือน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0C4FD-079A-4069-9C5D-C47EFA8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78067-EAF0-41C0-9B77-E15E70DA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B943C-985E-4859-ABA3-7BA1CB8F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6F6B"/>
                </a:solidFill>
              </a:defRPr>
            </a:pPr>
            <a:r>
              <a:rPr sz="1425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70A3A-967B-47EA-A33A-8AEF0089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บันทึกการกิน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A54E6-2BF1-4BDF-AD39-F1462DD2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B"/>
                </a:solidFill>
              </a:defRPr>
            </a:pPr>
            <a:r>
              <a:rPr sz="1350" b="0">
                <a:solidFill>
                  <a:srgbClr val="6F6F6B"/>
                </a:solidFill>
              </a:rPr>
              <a:t>กินแล้ว / ข้าม / เลื่อน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18490-CDCB-4D6F-B904-1819B106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D0F81-47AE-4065-B678-3A04921A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DBDB8"/>
                </a:solidFill>
              </a:defRPr>
            </a:pPr>
            <a:r>
              <a:rPr sz="1425" b="1">
                <a:solidFill>
                  <a:srgbClr val="BDBDB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02793-7365-491F-A343-1A17C42A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ติดตามผล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46B69-47BD-4133-A8ED-D81A42C3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0CB"/>
                </a:solidFill>
              </a:defRPr>
            </a:pPr>
            <a:r>
              <a:rPr sz="1350" b="0">
                <a:solidFill>
                  <a:srgbClr val="D0D0CB"/>
                </a:solidFill>
              </a:rPr>
              <a:t>ดู adherence และประวัติ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DA776-8B11-49B7-944B-FA61A5C8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ฟังก์ชันเสริม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86D2B-E62D-4C04-A995-3BE967C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ตรวจยาตีกัน  •  อาหาร/โรคที่ควรระวัง  •  ประวัติแพ้ยา  •  ติดต่อฉุกเฉิน  •  การตั้งค่าการเข้าถึง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FCE9F-820E-4DE8-AFAE-237A26F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740543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BAB90-0965-44A6-B6EC-E3D9F019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MACHECK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6DAD4-B4BE-4C9C-BF31-6D2892D8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MaCheck เลิกพฤติกรรมแบบเดโม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01BB0-80D8-465C-9351-3AD126D2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88f8238d04382"/>
          <a:srcRect xmlns:a="http://schemas.openxmlformats.org/drawingml/2006/main" l="0" t="23866" r="0" b="23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943100"/>
            <a:ext cx="3352800" cy="38100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4C510-CB6F-4E3B-A227-4E985525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ถอดออก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2AA64-E84A-4011-842D-46C1CA8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FC510-B6D2-49F7-BC3F-A7A253B2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OCR / AI ปลอมที่ให้ผลเหมือนรู้จักยา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D7FE0-6D54-4A7B-BFA3-FAB40AC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E49B7-906A-4BB6-A612-359FD415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alert simulator, ตัวเร่งเวลา และเคสตัวอย่าง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CF6C7-9880-4139-BC2D-8532D47A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34338-FCCB-4224-8C8A-A4C90559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คำแนะนำเว้นยาแบบตายตัวและ LAN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FB35B-EA9B-40A1-A390-2CFC7A38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แทนที่ด้วย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14F3B-3EF0-4702-94F1-89E7CDC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C4903-46C7-42C8-B39D-0109909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กล้องจริง แล้วให้ผู้ใช้ยืนยันชื่อยาจาก catalogue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FC466-A2B8-4268-AE6D-7F9B7B33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E5699-D835-4DBF-A98B-6A9A28D7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ยาที่เพิ่มเองถูกระบุว่า “ยังไม่ผ่านการตรวจทาน”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729A5-5D08-434F-852F-0F36C9F1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ภาพด้านขวา: build ปัจจุบันที่เปิดบน iOS Simulator</a:t>
            </a:r>
          </a:p>
        </p:txBody>
      </p:sp>
    </p:spTree>
    <p:extLst>
      <p:ext uri="{BB962C8B-B14F-4D97-AF65-F5344CB8AC3E}">
        <p14:creationId xmlns:p14="http://schemas.microsoft.com/office/powerpoint/2010/main" val="1803519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153E7-20C2-4FF4-8017-7A73FB31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SUPABASE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CCD0C-6DC5-42A8-A886-5F5FA231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ฐานข้อมูลกลางมีโครงสร้างรองรับงานจริง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1F059-9EB8-4B7E-A42F-F49CC8A7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1EA13-6ED5-444F-A8F8-A919CF32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B9DAD-4F83-44D4-BE2F-E927DBC6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บัญชี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25676-90AB-486C-8B89-CFF0EF7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E6024-0A6D-4002-8E0A-F8AEE34B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account handles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app profiles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auth rate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E7B59-7BB7-4C07-8205-D9CD9D7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8FC88-8365-41F1-9403-6C64684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ข้อมูลสุขภาพ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FCB92-4A09-46A3-A14E-BED718B0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9CD61-E02D-40F5-A10C-C7FC2F3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ตู้ยา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เหตุการณ์กินยา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activity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F5763-69BA-4C17-B38E-3E36DA0D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54025-1A8D-45C4-856D-79957583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ข้อมูลทางคลินิก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1F9E0-3C62-425D-A864-B04C37A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FE224-74BE-45A8-8AD4-9D59049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CB"/>
                </a:solidFill>
              </a:defRPr>
            </a:pPr>
            <a:r>
              <a:rPr sz="1500" b="0">
                <a:solidFill>
                  <a:srgbClr val="D0D0CB"/>
                </a:solidFill>
              </a:rPr>
              <a:t>รายการยา</a:t>
            </a:r>
          </a:p>
          <a:p xmlns:a="http://schemas.openxmlformats.org/drawingml/2006/main">
            <a:pPr algn="l">
              <a:defRPr sz="1500" b="0">
                <a:solidFill>
                  <a:srgbClr val="D0D0CB"/>
                </a:solidFill>
              </a:defRPr>
            </a:pPr>
            <a:r>
              <a:rPr sz="1500" b="0">
                <a:solidFill>
                  <a:srgbClr val="D0D0CB"/>
                </a:solidFill>
              </a:rPr>
              <a:t>ยาตีกัน</a:t>
            </a:r>
          </a:p>
          <a:p xmlns:a="http://schemas.openxmlformats.org/drawingml/2006/main">
            <a:pPr algn="l">
              <a:defRPr sz="1500" b="0">
                <a:solidFill>
                  <a:srgbClr val="D0D0CB"/>
                </a:solidFill>
              </a:defRPr>
            </a:pPr>
            <a:r>
              <a:rPr sz="1500" b="0">
                <a:solidFill>
                  <a:srgbClr val="D0D0CB"/>
                </a:solidFill>
              </a:rPr>
              <a:t>อาหาร/โรค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B1383-1D21-48BD-A329-61F9A3C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58CDA-39E8-4369-89F8-369F2C2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ผู้ดูแล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5AD8A-E94A-4439-85C6-4E07A65F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40955-75F1-4817-B831-C3F1ACF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caregiver links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caregiver nudges</a:t>
            </a:r>
          </a:p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สถานะการเชื่อมโยง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38411-8FA6-407E-86DC-03A4019E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ข้อมูลตั้งต้นบนระบบจริง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90B0D-E924-4D53-B341-A5E40D1A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5780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33 รายการยา    17 คู่ยาตีกัน    6 ความสัมพันธ์อาหาร/โรค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38390-88E5-434E-820E-ED851B9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494785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C511C-FFA3-4C72-9634-46F79098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PRIVACY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ABFCE-F590-45D3-8DE9-92F2722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สมัครด้วย username เพื่อลดข้อมูลระบุตัวตนโดยตรง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53DB6-70BF-40E8-9C6C-DE316A7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132F4-2AAD-4C86-A1D7-2DFD116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58B9A-7056-4D85-8105-1E0C49F6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56388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1B65C-5DD0-4F2B-810A-BDFC2FE1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ไม่อัปโหลด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459F4-CDF7-43E9-A949-07E5B45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810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ชื่อจริง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อีเมลจริง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เบอร์โทร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วันเกิด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5366D-CBB4-48AE-B5F4-6632FD18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ยังต้องเก็บ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5A77B-9E7F-472E-AB72-A35CDD1B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username / UUID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ข้อมูลยา โรค แพ้ยา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ประวัติการใช้ยา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D5DEB-AD9A-41B0-BC9A-F72BD18A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0CB"/>
                </a:solidFill>
              </a:defRPr>
            </a:pPr>
            <a:r>
              <a:rPr sz="1425" b="0">
                <a:solidFill>
                  <a:srgbClr val="D0D0CB"/>
                </a:solidFill>
              </a:rPr>
              <a:t>ข้อมูลสุขภาพยังเป็นข้อมูลอ่อนไหว แม้ไม่มีชื่อจริง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A228E-9A0C-431F-B2C7-C2DA4918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ข้อมูลที่จำเป็นเฉพาะเครื่อง เช่น เบอร์ติดต่อฉุกเฉิน เก็บใน SecureStore และไม่ส่งขึ้น cloud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B4B68-BA8E-4B9E-8D1C-9BA62547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610874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101EF-17D8-4C81-873B-931C1AF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AUTHENTICATION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F5F11-ECBD-4D7D-A1BE-ECF5FEA6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วงจรบัญชีครบตั้งแต่สมัครจนถึงลบ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8F9E9-9082-4C81-971D-AEB029E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7D43A-9CD6-459D-BE44-ABFECB0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75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75323-3D76-47D3-AD5C-43DCA010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F9EED-947B-4550-BDBF-0E5B86B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สมัคร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18247-70C8-43C1-B325-FAB25BC0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username + รหัสผ่าน</a:t>
            </a:r>
          </a:p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ระบบสร้าง mapping ภายใน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77BCE-E0F0-4097-B89C-18C72F0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F74C7-6BC0-4589-BE39-C3A880AC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95420-BE76-4F45-AE6C-4870D94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เข้าสู่ระบบ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40DE0-2786-4151-A64F-8F7961C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ตรวจรหัสผ่านผ่าน</a:t>
            </a:r>
          </a:p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Supabase 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FA97D-0D28-422F-BA5D-2A4F118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05EA5-B200-4EE7-83D4-41F0D4C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DB65E-E6F0-430F-9DD6-91E2D53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กู้คืน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C9F79-787B-4BD8-9E61-ED54F13A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ใช้ recovery code</a:t>
            </a:r>
          </a:p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เพื่อกำหนดรหัสใหม่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C03EF-5C4B-4D3B-8DB6-A6D35BF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A8849-882C-4068-A708-FF380A2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ลบบัญชี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D3334-94F0-4581-8C94-6AF19746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ยืนยันตัวตนแล้วลบ</a:t>
            </a:r>
          </a:p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ข้อมูลลูกแบบ cascade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A3B94-6EAB-454E-83C3-62E8F013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ECE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E5714-6335-4BC2-9683-05AFD5D9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บริการ Edge Functions 4 ตัว  |  มี rate limiting  |  รหัสผ่านขั้นต่ำ 10 ตัวอักษร  |  service-role key ไม่อยู่ในแอป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D5336-E980-49E3-A96A-CC6F67E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814805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0C86A-E366-4EBC-912C-B4A16D06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SECURITY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7FF3D-C818-40FB-A64C-0D130D7A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สิทธิ์ข้อมูลถูกบังคับที่ฐานข้อมูล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DA6A-F58E-468E-9797-F89EF5B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AFAA"/>
                </a:solidFill>
              </a:defRPr>
            </a:pPr>
            <a:r>
              <a:rPr sz="1125" b="1">
                <a:solidFill>
                  <a:srgbClr val="AFAFAA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F1873-B2DD-4A1F-854D-65D3CEC0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  RLS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AA9B1-9952-49C2-BD7A-A815CD94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ทุกตารางข้อมูลผู้ใช้เปิด Row Level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A8CE-B32F-4527-BA71-3F8D63A6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45B60-CCC4-4E2A-AA8E-58F4CC0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  auth.uid()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99B36-DD68-41EE-B33D-AE67A55F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ผู้ใช้เห็นและแก้ได้เฉพาะข้อมูลที่เป็นเจ้าของ หรือได้รับสิทธิ์ผู้ดูแล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579A1-E5AD-4CBC-ADBA-1597946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FA601-EB1E-4136-BDD9-12342BF5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  explicit grants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9915F-F9C8-4DE8-ABED-B30459D9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95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ปิดการเปิดตารางอัตโนมัติ แล้วอนุญาตเฉพาะคำสั่งที่แอปต้องใช้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38675-7CD0-46F8-905A-3943240A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FA53D-47F0-4AED-8B2A-9189F9B5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04  private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10BF7-2967-4395-8F51-B8FEA0C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mapping ระหว่าง username และบัญชี auth ไม่เปิดให้อุปกรณ์อ่าน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F3AA3-57FE-4C5A-908D-D9924BF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ทดสอบจริงด้วยบัญชีสองราย: อ่านข้ามบัญชีไม่ได้ และเขียน UUID ของผู้อื่นถูกปฏิเสธ</a:t>
            </a:r>
          </a:p>
        </p:txBody>
      </p:sp>
    </p:spTree>
    <p:extLst>
      <p:ext uri="{BB962C8B-B14F-4D97-AF65-F5344CB8AC3E}">
        <p14:creationId xmlns:p14="http://schemas.microsoft.com/office/powerpoint/2010/main" val="5854384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D0061-66A9-416C-AAC7-E50C539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LOCAL-FIRST และ SYNC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F7191-2384-47B7-91E5-E5AA8226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แอปยังทำงานต่อได้เมื่อเน็ตไม่เสถียร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65881-E2EA-4FA9-8E2E-A9BAA6FA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38C4-555D-48DB-BF55-F9851D9F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766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8EF5F-4532-4358-B97A-F6B537C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32766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A735C-E8C8-4D6F-81D2-E6573634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2766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EEB26-C01A-4D4A-B04C-8DDB2F3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ในเครื่อง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319B7-1A44-4994-9ED3-C34CEE62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session token</a:t>
            </a:r>
          </a:p>
          <a:p xmlns:a="http://schemas.openxmlformats.org/drawingml/2006/main">
            <a:pPr algn="l"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health cache</a:t>
            </a:r>
          </a:p>
          <a:p xmlns:a="http://schemas.openxmlformats.org/drawingml/2006/main">
            <a:pPr algn="l"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ตารางและประวัติ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0C972-56C0-49C4-8129-BB870F55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เมื่อออนไลน์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37A77-3CF4-4D1B-8C20-469C4E1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0CB"/>
                </a:solidFill>
              </a:defRPr>
            </a:pPr>
            <a:r>
              <a:rPr sz="1650" b="0">
                <a:solidFill>
                  <a:srgbClr val="D0D0CB"/>
                </a:solidFill>
              </a:rPr>
              <a:t>ซิงก์ profile</a:t>
            </a:r>
          </a:p>
          <a:p xmlns:a="http://schemas.openxmlformats.org/drawingml/2006/main">
            <a:pPr algn="l">
              <a:defRPr sz="1650" b="0">
                <a:solidFill>
                  <a:srgbClr val="D0D0CB"/>
                </a:solidFill>
              </a:defRPr>
            </a:pPr>
            <a:r>
              <a:rPr sz="1650" b="0">
                <a:solidFill>
                  <a:srgbClr val="D0D0CB"/>
                </a:solidFill>
              </a:rPr>
              <a:t>ตู้ยา</a:t>
            </a:r>
          </a:p>
          <a:p xmlns:a="http://schemas.openxmlformats.org/drawingml/2006/main">
            <a:pPr algn="l">
              <a:defRPr sz="1650" b="0">
                <a:solidFill>
                  <a:srgbClr val="D0D0CB"/>
                </a:solidFill>
              </a:defRPr>
            </a:pPr>
            <a:r>
              <a:rPr sz="1650" b="0">
                <a:solidFill>
                  <a:srgbClr val="D0D0CB"/>
                </a:solidFill>
              </a:rPr>
              <a:t>dose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4CF13-D885-4DB5-87F2-B6932006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เมื่อออฟไลน์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44C94-B9D7-4A36-959E-1949FDD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813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ใช้ข้อมูลยา</a:t>
            </a:r>
          </a:p>
          <a:p xmlns:a="http://schemas.openxmlformats.org/drawingml/2006/main">
            <a:pPr algn="l"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ที่ bundle มากับแอป</a:t>
            </a:r>
          </a:p>
          <a:p xmlns:a="http://schemas.openxmlformats.org/drawingml/2006/main">
            <a:pPr algn="l"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เป็น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82DD2-F987-4685-BFB7-FC8D3C7D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ข้อจำกัดปัจจุบัน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A4F37-A482-49DE-8B41-E2CA41AA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62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ยังไม่มี offline queue และกติกาแก้ข้อมูลชนกันหลายเครื่องที่สมบูรณ์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7662A-09A4-4623-8AC0-F509AF4F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2059452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C8057-A604-4BB0-97BE-1D5F381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CLINICAL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4BEC8-AED2-417E-ACBD-7741E61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ฐานข้อมูลทางคลินิกมีจริง แต่ยังต้องรับรอง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F337E-05AC-4B84-AE8A-D2AAA95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C23F-A89C-442F-B81C-4B951D71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AFAC6-3FC5-4B09-BB6C-43FFACAC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รายการยา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5CDFD-C281-4C42-9B17-4A784F9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108BE-6921-4791-AEAD-C2CA354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คู่ยาตีกัน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50577-A66C-4C48-9240-94156B8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241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9AF38-CD2F-4DE0-8E66-6433900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อาหาร / โรค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A3CB5-4B06-448C-A2D0-B32F6DF6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4861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8D923-22B3-476C-82E6-6E7FAE92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DBDB8"/>
                </a:solidFill>
              </a:defRPr>
            </a:pPr>
            <a:r>
              <a:rPr sz="1425" b="1">
                <a:solidFill>
                  <a:srgbClr val="BDBDB8"/>
                </a:solidFill>
              </a:rPr>
              <a:t>หลักการที่ใช้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C7946-6061-40FB-A691-91E46D4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ไม่สรุปว่า “ปลอดภัย”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ถ้ายังไม่มีข้อมูลรองรับ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39321-4418-4B37-B13A-FFEFFA69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0CB"/>
                </a:solidFill>
              </a:defRPr>
            </a:pPr>
            <a:r>
              <a:rPr sz="1275" b="0">
                <a:solidFill>
                  <a:srgbClr val="D0D0CB"/>
                </a:solidFill>
              </a:rPr>
              <a:t>ยาที่ผู้ใช้เพิ่มเอง = ยังไม่ผ่านการตรวจทาน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1C3A2-CCD8-4CE9-906C-2775DD33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CC002-F1D4-4654-B3AC-03890A5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ก่อน pilot ต้องเพิ่ม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3A916-B3C3-4909-BFF0-7FFC1DAE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864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แหล่งอ้างอิง  •  ผู้ตรวจ  •  วันที่ตรวจ  •  เวอร์ชันข้อมูล  •  การลงนามจากเภสัชกร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02E68-06E3-4DEE-BF31-57C77A3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2064232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3BD68-0F4B-4290-B348-6426BE98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INFRASTRUCTURE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E2FF8-8D98-47A3-8EAD-D9E032AE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Supabase Free Plan เหมาะกับการพัฒนาและ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FBAF1-5AF4-4023-91AF-67C47A84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B9FEF-B598-452B-9097-CCBF092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6F6B"/>
                </a:solidFill>
              </a:defRPr>
            </a:pPr>
            <a:r>
              <a:rPr sz="1800" b="0">
                <a:solidFill>
                  <a:srgbClr val="6F6F6B"/>
                </a:solidFill>
              </a:rPr>
              <a:t>ใช้โครงการกลางเดียวในภูมิภาค Singapore โดยไม่ต้องจ่ายค่าบริการในช่วงเริ่มต้น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F688E-89C4-4612-A4A4-C795FA09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A4BA6-CED0-44A9-9D05-48E42CED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ได้ของจำเป็นครบ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01B1A-6F1E-4EC7-BB79-13C5878A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Database, Auth, Edge Functions และ security rules อยู่ในระบบเดียว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FDCAD-75FE-4114-9DDA-EBB23EF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146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8EE3-2789-48E6-AD63-BF78F0C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ควบคุมต้นทุน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F500-93F2-4B21-B78F-4A046FC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เหมาะกับการทดสอบภายในและ pilot ขนาดเล็กก่อนมีรายได้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405FD-8117-4DD8-AC16-527A6236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20822-1D9F-4625-8354-2BCB33D9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มีภาระดูแล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29DE9-2EB4-4CA4-951B-71E5F9DD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71850"/>
            <a:ext cx="2876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โครงการอาจ pause เมื่อไม่มีการใช้งาน ต้องเปิด dashboard และสำรองข้อมูล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6E4E1-12F0-4D1E-B978-19EE05F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C186C-358A-450B-BF20-721F9266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คำแนะนำ: ใช้ Free ต่อได้ แต่กำหนดเจ้าของระบบ ตรวจ quota และทำ manual backup เป็นรอบ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A883D-7937-4C45-B23F-39E73E3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Hosted project: YaCheck-MaCheck-Central  |  Southeast Asia (Singapore)</a:t>
            </a:r>
          </a:p>
        </p:txBody>
      </p:sp>
    </p:spTree>
    <p:extLst>
      <p:ext uri="{BB962C8B-B14F-4D97-AF65-F5344CB8AC3E}">
        <p14:creationId xmlns:p14="http://schemas.microsoft.com/office/powerpoint/2010/main" val="21473601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B8ECA-F5D2-4C98-9747-8B70CFDD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12B67-D7FE-471F-A080-10D22BA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ผ่านการทดสอบกับระบบจริง ไม่ใช่แค่ผ่าน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181FC-B19D-475E-BF4D-E1F1C07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F8B80-BBE3-4230-95BC-0824BA55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BACKEND LIVE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052CD-A6FF-46D3-B769-B96CD9E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485AF-2BCC-48A1-9F9D-A7BEF541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สมัคร / login / recovery / เปลี่ยนรหัส / ลบบัญชี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D412F-9064-4C4C-853E-A4BFD57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40CFC-A67C-4654-BF75-27E6D6E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เขียน profile, ตู้ยา และ dose event สำเร็จ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E3B7C-97BF-48DC-844B-2B67FACB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99045-95D3-431C-9C6D-1EE9B05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RLS แยกข้อมูลสองบัญชีได้จริง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3207E-F592-49BD-9A8F-ECB96199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44AC3-32C3-4D66-8BA5-1108182F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Database lint ผ่าน และบัญชีทดสอบถูกล้างแล้ว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3CEE-8AE4-4481-A343-2758B653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APP BUILDS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449A8-EAC7-4F7F-B747-07C4942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76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8DD35-3973-4D80-8131-A7FAF52C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YaCheck: typecheck, lint, Expo Doctor 21/21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0577F-7171-49CB-A7F8-0AFD47C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3E930-5010-4FBA-B4F3-E9802F9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YaCheck: export iOS / Android / Web สำเร็จ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4E4FB-D55D-43FC-861C-FA2843A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30EFD-D1F0-4ED4-A3F6-7B387CD1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MaCheck: typecheck, lint และ export สำเร็จ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96E45-7F13-4B5E-8E8A-D0BED1F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A5359-6FF4-4FB5-9112-DAFF0E92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MaCheck: native iOS Simulator build เปิดใช้งานจริง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C8F1C-ECFC-412D-B244-B4F797E7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D4FAE-85F7-462D-9367-09B22E1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4 migrations ตรงกับ remote    •    4 Edge Functions ACTIVE    •    ไม่มี schema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9EF7A-C7B1-4B91-9617-8B369431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20377195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29092-B337-4C28-986F-2E64E29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READINESS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8855B-A8E9-4D86-8C55-7952CA75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พร้อมด้านเทคนิค แต่ยังมี release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A07E1-CDD4-4FFF-A9E1-EBF7DAE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70B49-0CA3-42F9-9A4E-329AC25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054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D4566-B480-4377-BDBB-2CFDA9F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54864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74720-C449-48DC-9444-7DC0297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พร้อมแล้ว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6840B-DC72-4A04-9C70-28EC259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54F9C-E575-47F3-B3A1-F510A1F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Backend กลางและบัญชีทำงานจริง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E056F-7A18-4476-8C4B-AEC5AB9C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7D4C3-1407-4A12-B561-A389FEA1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สองแอปเชื่อมข้อมูลชุดเดียวกัน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3844D-DA10-4228-8CA6-9696D03A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7AE9A-928B-41BA-9CF0-470C9B8E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RLS, SecureStore และ account deletion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13B36-AAC5-479A-9AA0-318983B8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80F2D-C9A8-43D8-BF2F-1810751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build/export หลายแพลตฟอร์มผ่าน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9455E-7512-40BA-8037-CCFEA85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ยังต้องปิด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F0671-3E5A-4D92-82C2-73661F21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157E1-5A5E-4DB5-9B8B-AE374374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ทดสอบ iOS / Android บนอุปกรณ์จริง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83C23-1CA9-42E3-9CF1-7697D05E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BC1EB-325C-4A21-B1A2-C3106756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99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clinical review และข้อความเตือนฉุกเฉิน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503A7-D446-4B3D-A6CC-67B981E4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58FAD-7EAC-40B3-BCE7-81CAF42D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PDPA, consent, retention และ data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18225-34B5-4DBE-964A-12C3A454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1E370-B6FC-4284-BEFC-6FE7C107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148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automated tests, monitoring และ store signing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53905-887C-45F5-988D-7FD8D72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29537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63FB7-DCC8-471F-8F6C-2EDD26D2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RECOMMENDED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C5ADA-DB32-4B6A-BEC5-A3CE7206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เดินหน้าเป็น 3 ระยะ โดยเริ่มจาก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D7C3B-1C60-4A35-B8D2-2C1FA7C5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9C8F-E20E-4F25-9A36-FDAB83C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A4F78-699A-4AEB-8045-A0814E8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2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Pilot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880F-367A-4A7D-B241-ABC3F6F1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717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ทดสอบข้ามอุปกรณ์  •  caregiver invite  •  privacy/consent  •  clinical sign-off  • 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6824A-9A65-4E26-88BD-09ED02D3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A458F-DDCD-4980-8991-1BF94D60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F6F6B"/>
                </a:solidFill>
              </a:defRPr>
            </a:pPr>
            <a:r>
              <a:rPr sz="3300" b="1">
                <a:solidFill>
                  <a:srgbClr val="6F6F6B"/>
                </a:solidFill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0A1EB-4D69-458E-BDDA-78A7F934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52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Public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359D4-B6D2-4C75-9EBE-C4367406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unit/integration/E2E  •  CI  •  accessibility  •  store assets/signing  •  rollback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8407-2CE2-435B-9B82-CC82886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529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9158A-15A5-48E6-8C4F-BEEEDBA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F6F6B"/>
                </a:solidFill>
              </a:defRPr>
            </a:pPr>
            <a:r>
              <a:rPr sz="3300" b="1">
                <a:solidFill>
                  <a:srgbClr val="6F6F6B"/>
                </a:solidFill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5E577-45BF-4B0B-87CD-585C0D93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529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Scale and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6398-758A-459B-BB05-AE27C1F3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incremental sync  •  conflict resolution  •  versioned clinical dataset  •  performance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A6E99-8132-4D8A-8E5F-A09DCB8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20593786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40A98-F0F8-4C2F-89CF-B1FD3C6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8FBCD-D447-42E1-B96E-BE13BC6B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โปรเจกต์หลุดจากสถานะ mockup แล้ว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E2C48-6CAC-413A-AC33-AE1F5851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0D0CB"/>
                </a:solidFill>
              </a:defRPr>
            </a:pPr>
            <a:r>
              <a:rPr sz="2175" b="0">
                <a:solidFill>
                  <a:srgbClr val="D0D0CB"/>
                </a:solidFill>
              </a:rPr>
              <a:t>ตอนนี้ YaCheck และ MaCheck มีฐานเทคนิคที่ใช้งานจริงร่วมกัน</a:t>
            </a:r>
          </a:p>
          <a:p xmlns:a="http://schemas.openxmlformats.org/drawingml/2006/main">
            <a:pPr algn="l">
              <a:defRPr sz="2175" b="0">
                <a:solidFill>
                  <a:srgbClr val="D0D0CB"/>
                </a:solidFill>
              </a:defRPr>
            </a:pPr>
            <a:r>
              <a:rPr sz="2175" b="0">
                <a:solidFill>
                  <a:srgbClr val="D0D0CB"/>
                </a:solidFill>
              </a:rPr>
              <a:t>แต่เส้นชัยถัดไปคือ “pilot ที่ปลอดภัย” ไม่ใช่รีบขึ้นสโตร์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11E57-41E0-4E6E-BA59-62CE50FE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EC69C-C8C5-4D31-A013-00B83D41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ข้อเสนอให้ตัดสินใจ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859D1-FD90-4E6A-9DBE-505CABD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82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  ปิดงาน P0 ให้ครบ     2  ทดลองกับกลุ่มเล็กแบบควบคุม     3  เก็บหลักฐานและแก้จุดเสี่ยง     4  จึงเตรียม public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BD3A5-7222-4F3B-AFB1-C150B964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DB8"/>
                </a:solidFill>
              </a:defRPr>
            </a:pPr>
            <a:r>
              <a:rPr sz="1050" b="0">
                <a:solidFill>
                  <a:srgbClr val="BDBDB8"/>
                </a:solidFill>
              </a:rPr>
              <a:t>Technical foundation: READY    |    Public medical release: NOT YET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EB925-0EF3-45E3-90BA-898B9B76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AFAA"/>
                </a:solidFill>
              </a:defRPr>
            </a:pPr>
            <a:r>
              <a:rPr sz="1125" b="1">
                <a:solidFill>
                  <a:srgbClr val="AFAFA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1783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2026-07-17T17:39:16.7920000Z</dcterms:created>
  <dcterms:modified xsi:type="dcterms:W3CDTF">2026-07-17T17:39:16.7920000Z</dcterms:modified>
</coreProperties>
</file>